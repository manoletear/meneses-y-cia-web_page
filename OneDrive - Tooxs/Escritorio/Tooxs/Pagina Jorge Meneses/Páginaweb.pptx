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58" r:id="rId3"/>
    <p:sldId id="259" r:id="rId4"/>
    <p:sldId id="260" r:id="rId5"/>
  </p:sldIdLst>
  <p:sldSz cx="9144000" cy="5143500" type="screen16x9"/>
  <p:notesSz cx="6858000" cy="9144000"/>
  <p:embeddedFontLst>
    <p:embeddedFont>
      <p:font typeface="Prompt" panose="00000500000000000000" pitchFamily="2" charset="-34"/>
      <p:regular r:id="rId7"/>
      <p:bold r:id="rId8"/>
      <p:italic r:id="rId9"/>
      <p:boldItalic r:id="rId10"/>
    </p:embeddedFont>
    <p:embeddedFont>
      <p:font typeface="Prompt Light" panose="00000400000000000000" pitchFamily="2" charset="-34"/>
      <p:regular r:id="rId11"/>
      <p:bold r:id="rId12"/>
      <p:italic r:id="rId13"/>
      <p:boldItalic r:id="rId14"/>
    </p:embeddedFont>
    <p:embeddedFont>
      <p:font typeface="Prompt Medium" panose="00000600000000000000" pitchFamily="2" charset="-34"/>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02"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895281777c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895281777c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895281777c_2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895281777c_2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895281777c_2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895281777c_2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0" y="46150"/>
            <a:ext cx="664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b="1">
                <a:solidFill>
                  <a:schemeClr val="lt1"/>
                </a:solidFill>
              </a:rPr>
              <a:t>HOME</a:t>
            </a:r>
            <a:endParaRPr sz="1800" b="1">
              <a:solidFill>
                <a:schemeClr val="lt1"/>
              </a:solidFill>
            </a:endParaRPr>
          </a:p>
        </p:txBody>
      </p:sp>
      <p:pic>
        <p:nvPicPr>
          <p:cNvPr id="55" name="Google Shape;55;p13"/>
          <p:cNvPicPr preferRelativeResize="0"/>
          <p:nvPr/>
        </p:nvPicPr>
        <p:blipFill rotWithShape="1">
          <a:blip r:embed="rId3">
            <a:alphaModFix/>
          </a:blip>
          <a:srcRect r="28078"/>
          <a:stretch/>
        </p:blipFill>
        <p:spPr>
          <a:xfrm>
            <a:off x="968725" y="821725"/>
            <a:ext cx="4589951" cy="2570250"/>
          </a:xfrm>
          <a:prstGeom prst="rect">
            <a:avLst/>
          </a:prstGeom>
          <a:noFill/>
          <a:ln>
            <a:noFill/>
          </a:ln>
        </p:spPr>
      </p:pic>
      <p:pic>
        <p:nvPicPr>
          <p:cNvPr id="56" name="Google Shape;56;p13" title="untitled-0-removebg-preview.png"/>
          <p:cNvPicPr preferRelativeResize="0"/>
          <p:nvPr/>
        </p:nvPicPr>
        <p:blipFill>
          <a:blip r:embed="rId4">
            <a:alphaModFix/>
          </a:blip>
          <a:stretch>
            <a:fillRect/>
          </a:stretch>
        </p:blipFill>
        <p:spPr>
          <a:xfrm>
            <a:off x="7081600" y="46150"/>
            <a:ext cx="2062400" cy="553550"/>
          </a:xfrm>
          <a:prstGeom prst="rect">
            <a:avLst/>
          </a:prstGeom>
          <a:noFill/>
          <a:ln>
            <a:noFill/>
          </a:ln>
        </p:spPr>
      </p:pic>
      <p:cxnSp>
        <p:nvCxnSpPr>
          <p:cNvPr id="57" name="Google Shape;57;p13"/>
          <p:cNvCxnSpPr/>
          <p:nvPr/>
        </p:nvCxnSpPr>
        <p:spPr>
          <a:xfrm>
            <a:off x="968725" y="530500"/>
            <a:ext cx="6308400" cy="0"/>
          </a:xfrm>
          <a:prstGeom prst="straightConnector1">
            <a:avLst/>
          </a:prstGeom>
          <a:noFill/>
          <a:ln w="28575" cap="flat" cmpd="sng">
            <a:solidFill>
              <a:srgbClr val="FF9900"/>
            </a:solidFill>
            <a:prstDash val="solid"/>
            <a:round/>
            <a:headEnd type="none" w="med" len="med"/>
            <a:tailEnd type="none" w="med" len="med"/>
          </a:ln>
        </p:spPr>
      </p:cxnSp>
      <p:sp>
        <p:nvSpPr>
          <p:cNvPr id="58" name="Google Shape;58;p13"/>
          <p:cNvSpPr txBox="1"/>
          <p:nvPr/>
        </p:nvSpPr>
        <p:spPr>
          <a:xfrm>
            <a:off x="1187825" y="68800"/>
            <a:ext cx="5743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solidFill>
                  <a:schemeClr val="lt1"/>
                </a:solidFill>
                <a:latin typeface="Prompt"/>
                <a:ea typeface="Prompt"/>
                <a:cs typeface="Prompt"/>
                <a:sym typeface="Prompt"/>
              </a:rPr>
              <a:t>                  Filosofía     Equipo   Áreas de Pràctica</a:t>
            </a:r>
            <a:endParaRPr>
              <a:solidFill>
                <a:schemeClr val="lt1"/>
              </a:solidFill>
              <a:latin typeface="Prompt"/>
              <a:ea typeface="Prompt"/>
              <a:cs typeface="Prompt"/>
              <a:sym typeface="Prompt"/>
            </a:endParaRPr>
          </a:p>
        </p:txBody>
      </p:sp>
      <p:sp>
        <p:nvSpPr>
          <p:cNvPr id="59" name="Google Shape;59;p13"/>
          <p:cNvSpPr txBox="1"/>
          <p:nvPr/>
        </p:nvSpPr>
        <p:spPr>
          <a:xfrm>
            <a:off x="899400" y="3497250"/>
            <a:ext cx="5743200" cy="71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800">
                <a:solidFill>
                  <a:schemeClr val="lt1"/>
                </a:solidFill>
                <a:latin typeface="Prompt Medium"/>
                <a:ea typeface="Prompt Medium"/>
                <a:cs typeface="Prompt Medium"/>
                <a:sym typeface="Prompt Medium"/>
              </a:rPr>
              <a:t>Estrategia Legal </a:t>
            </a:r>
            <a:r>
              <a:rPr lang="es" sz="1800">
                <a:solidFill>
                  <a:srgbClr val="FF9900"/>
                </a:solidFill>
                <a:latin typeface="Prompt Medium"/>
                <a:ea typeface="Prompt Medium"/>
                <a:cs typeface="Prompt Medium"/>
                <a:sym typeface="Prompt Medium"/>
              </a:rPr>
              <a:t>/</a:t>
            </a:r>
            <a:r>
              <a:rPr lang="es" sz="1800">
                <a:solidFill>
                  <a:schemeClr val="lt1"/>
                </a:solidFill>
                <a:latin typeface="Prompt Medium"/>
                <a:ea typeface="Prompt Medium"/>
                <a:cs typeface="Prompt Medium"/>
                <a:sym typeface="Prompt Medium"/>
              </a:rPr>
              <a:t> Litigación </a:t>
            </a:r>
            <a:r>
              <a:rPr lang="es" sz="1800">
                <a:solidFill>
                  <a:srgbClr val="FF9900"/>
                </a:solidFill>
                <a:latin typeface="Prompt Medium"/>
                <a:ea typeface="Prompt Medium"/>
                <a:cs typeface="Prompt Medium"/>
                <a:sym typeface="Prompt Medium"/>
              </a:rPr>
              <a:t>/</a:t>
            </a:r>
            <a:r>
              <a:rPr lang="es" sz="1800">
                <a:solidFill>
                  <a:schemeClr val="lt1"/>
                </a:solidFill>
                <a:latin typeface="Prompt Medium"/>
                <a:ea typeface="Prompt Medium"/>
                <a:cs typeface="Prompt Medium"/>
                <a:sym typeface="Prompt Medium"/>
              </a:rPr>
              <a:t> Consultoría</a:t>
            </a:r>
            <a:endParaRPr sz="1800">
              <a:solidFill>
                <a:schemeClr val="lt1"/>
              </a:solidFill>
              <a:latin typeface="Prompt Medium"/>
              <a:ea typeface="Prompt Medium"/>
              <a:cs typeface="Prompt Medium"/>
              <a:sym typeface="Prompt Medium"/>
            </a:endParaRPr>
          </a:p>
          <a:p>
            <a:pPr marL="0" lvl="0" indent="0" algn="l" rtl="0">
              <a:spcBef>
                <a:spcPts val="0"/>
              </a:spcBef>
              <a:spcAft>
                <a:spcPts val="0"/>
              </a:spcAft>
              <a:buNone/>
            </a:pPr>
            <a:endParaRPr>
              <a:solidFill>
                <a:schemeClr val="lt1"/>
              </a:solidFill>
              <a:latin typeface="Prompt"/>
              <a:ea typeface="Prompt"/>
              <a:cs typeface="Prompt"/>
              <a:sym typeface="Prompt"/>
            </a:endParaRPr>
          </a:p>
        </p:txBody>
      </p:sp>
      <p:sp>
        <p:nvSpPr>
          <p:cNvPr id="60" name="Google Shape;60;p13"/>
          <p:cNvSpPr txBox="1"/>
          <p:nvPr/>
        </p:nvSpPr>
        <p:spPr>
          <a:xfrm>
            <a:off x="3840325" y="369050"/>
            <a:ext cx="5328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61" name="Google Shape;61;p13"/>
          <p:cNvSpPr txBox="1"/>
          <p:nvPr/>
        </p:nvSpPr>
        <p:spPr>
          <a:xfrm>
            <a:off x="5777800" y="830750"/>
            <a:ext cx="3021600" cy="388334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100" dirty="0">
                <a:solidFill>
                  <a:schemeClr val="lt1"/>
                </a:solidFill>
                <a:latin typeface="Prompt"/>
                <a:ea typeface="Prompt"/>
                <a:cs typeface="Prompt"/>
                <a:sym typeface="Prompt"/>
              </a:rPr>
              <a:t>Meneses &amp; Cía representa la experiencia y visión acumulada de su fundador, forjada en su participación en múltiples conflictos relevantes, y en la asesoría legal estratégica y acompañamiento  de importantes empresas de dstintos rubros (minería, financiero,  corporaciones de derecho privado y personas naturales de alto patrimonio</a:t>
            </a:r>
          </a:p>
          <a:p>
            <a:pPr marL="0" lvl="0" indent="0" algn="l" rtl="0">
              <a:lnSpc>
                <a:spcPct val="115000"/>
              </a:lnSpc>
              <a:spcBef>
                <a:spcPts val="0"/>
              </a:spcBef>
              <a:spcAft>
                <a:spcPts val="0"/>
              </a:spcAft>
              <a:buClr>
                <a:schemeClr val="dk1"/>
              </a:buClr>
              <a:buSzPts val="1100"/>
              <a:buFont typeface="Arial"/>
              <a:buNone/>
            </a:pPr>
            <a:endParaRPr lang="es" sz="1100" dirty="0">
              <a:solidFill>
                <a:schemeClr val="lt1"/>
              </a:solidFill>
              <a:latin typeface="Prompt"/>
              <a:ea typeface="Prompt"/>
              <a:cs typeface="Prompt"/>
              <a:sym typeface="Prompt"/>
            </a:endParaRPr>
          </a:p>
          <a:p>
            <a:pPr marL="0" lvl="0" indent="0" algn="l" rtl="0">
              <a:lnSpc>
                <a:spcPct val="115000"/>
              </a:lnSpc>
              <a:spcBef>
                <a:spcPts val="0"/>
              </a:spcBef>
              <a:spcAft>
                <a:spcPts val="0"/>
              </a:spcAft>
              <a:buClr>
                <a:schemeClr val="dk1"/>
              </a:buClr>
              <a:buSzPts val="1100"/>
              <a:buFont typeface="Arial"/>
              <a:buNone/>
            </a:pPr>
            <a:r>
              <a:rPr lang="es" sz="1100" dirty="0">
                <a:solidFill>
                  <a:schemeClr val="lt1"/>
                </a:solidFill>
                <a:latin typeface="Prompt"/>
                <a:ea typeface="Prompt"/>
                <a:cs typeface="Prompt"/>
                <a:sym typeface="Prompt"/>
              </a:rPr>
              <a:t>La firma nace con un estándar de servicio probado, proyectando una visión estratégica madurada en el ejercicio de litigios de alta complejidad. </a:t>
            </a:r>
            <a:endParaRPr sz="1100" dirty="0">
              <a:solidFill>
                <a:schemeClr val="lt1"/>
              </a:solidFill>
              <a:latin typeface="Prompt"/>
              <a:ea typeface="Prompt"/>
              <a:cs typeface="Prompt"/>
              <a:sym typeface="Prompt"/>
            </a:endParaRPr>
          </a:p>
          <a:p>
            <a:pPr marL="0" lvl="0" indent="0" algn="l" rtl="0">
              <a:lnSpc>
                <a:spcPct val="115000"/>
              </a:lnSpc>
              <a:spcBef>
                <a:spcPts val="0"/>
              </a:spcBef>
              <a:spcAft>
                <a:spcPts val="0"/>
              </a:spcAft>
              <a:buClr>
                <a:schemeClr val="dk1"/>
              </a:buClr>
              <a:buSzPts val="1100"/>
              <a:buFont typeface="Arial"/>
              <a:buNone/>
            </a:pPr>
            <a:endParaRPr sz="1100" dirty="0">
              <a:solidFill>
                <a:schemeClr val="lt1"/>
              </a:solidFill>
              <a:latin typeface="Prompt"/>
              <a:ea typeface="Prompt"/>
              <a:cs typeface="Prompt"/>
              <a:sym typeface="Prompt"/>
            </a:endParaRPr>
          </a:p>
          <a:p>
            <a:pPr marL="0" lvl="0" indent="0" algn="l" rtl="0">
              <a:lnSpc>
                <a:spcPct val="115000"/>
              </a:lnSpc>
              <a:spcBef>
                <a:spcPts val="0"/>
              </a:spcBef>
              <a:spcAft>
                <a:spcPts val="0"/>
              </a:spcAft>
              <a:buClr>
                <a:schemeClr val="dk1"/>
              </a:buClr>
              <a:buSzPts val="1100"/>
              <a:buFont typeface="Arial"/>
              <a:buNone/>
            </a:pPr>
            <a:r>
              <a:rPr lang="es" sz="1100" dirty="0">
                <a:solidFill>
                  <a:schemeClr val="lt1"/>
                </a:solidFill>
                <a:latin typeface="Prompt"/>
                <a:ea typeface="Prompt"/>
                <a:cs typeface="Prompt"/>
                <a:sym typeface="Prompt"/>
              </a:rPr>
              <a:t>Hoy, esa experiencia se traduce en una oficina ágil, moderna, en la que confluyen abogados y consultores de reconocida trayectoria.  </a:t>
            </a:r>
            <a:endParaRPr dirty="0">
              <a:solidFill>
                <a:schemeClr val="lt1"/>
              </a:solidFill>
              <a:latin typeface="Prompt"/>
              <a:ea typeface="Prompt"/>
              <a:cs typeface="Prompt"/>
              <a:sym typeface="Promp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77"/>
        <p:cNvGrpSpPr/>
        <p:nvPr/>
      </p:nvGrpSpPr>
      <p:grpSpPr>
        <a:xfrm>
          <a:off x="0" y="0"/>
          <a:ext cx="0" cy="0"/>
          <a:chOff x="0" y="0"/>
          <a:chExt cx="0" cy="0"/>
        </a:xfrm>
      </p:grpSpPr>
      <p:sp>
        <p:nvSpPr>
          <p:cNvPr id="78" name="Google Shape;78;p15"/>
          <p:cNvSpPr txBox="1"/>
          <p:nvPr/>
        </p:nvSpPr>
        <p:spPr>
          <a:xfrm>
            <a:off x="0" y="46150"/>
            <a:ext cx="664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b="1">
                <a:solidFill>
                  <a:schemeClr val="lt1"/>
                </a:solidFill>
              </a:rPr>
              <a:t>EQUIPO 1</a:t>
            </a:r>
            <a:endParaRPr sz="1800" b="1">
              <a:solidFill>
                <a:schemeClr val="lt1"/>
              </a:solidFill>
            </a:endParaRPr>
          </a:p>
        </p:txBody>
      </p:sp>
      <p:pic>
        <p:nvPicPr>
          <p:cNvPr id="79" name="Google Shape;79;p15" title="untitled-0-removebg-preview.png"/>
          <p:cNvPicPr preferRelativeResize="0"/>
          <p:nvPr/>
        </p:nvPicPr>
        <p:blipFill>
          <a:blip r:embed="rId3">
            <a:alphaModFix/>
          </a:blip>
          <a:stretch>
            <a:fillRect/>
          </a:stretch>
        </p:blipFill>
        <p:spPr>
          <a:xfrm>
            <a:off x="7081600" y="46150"/>
            <a:ext cx="2062400" cy="553550"/>
          </a:xfrm>
          <a:prstGeom prst="rect">
            <a:avLst/>
          </a:prstGeom>
          <a:noFill/>
          <a:ln>
            <a:noFill/>
          </a:ln>
        </p:spPr>
      </p:pic>
      <p:cxnSp>
        <p:nvCxnSpPr>
          <p:cNvPr id="80" name="Google Shape;80;p15"/>
          <p:cNvCxnSpPr/>
          <p:nvPr/>
        </p:nvCxnSpPr>
        <p:spPr>
          <a:xfrm>
            <a:off x="968725" y="530500"/>
            <a:ext cx="6308400" cy="0"/>
          </a:xfrm>
          <a:prstGeom prst="straightConnector1">
            <a:avLst/>
          </a:prstGeom>
          <a:noFill/>
          <a:ln w="28575" cap="flat" cmpd="sng">
            <a:solidFill>
              <a:srgbClr val="FF9900"/>
            </a:solidFill>
            <a:prstDash val="solid"/>
            <a:round/>
            <a:headEnd type="none" w="med" len="med"/>
            <a:tailEnd type="none" w="med" len="med"/>
          </a:ln>
        </p:spPr>
      </p:cxnSp>
      <p:sp>
        <p:nvSpPr>
          <p:cNvPr id="81" name="Google Shape;81;p15"/>
          <p:cNvSpPr txBox="1"/>
          <p:nvPr/>
        </p:nvSpPr>
        <p:spPr>
          <a:xfrm>
            <a:off x="1187825" y="68800"/>
            <a:ext cx="5743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solidFill>
                  <a:schemeClr val="lt1"/>
                </a:solidFill>
                <a:latin typeface="Prompt"/>
                <a:ea typeface="Prompt"/>
                <a:cs typeface="Prompt"/>
                <a:sym typeface="Prompt"/>
              </a:rPr>
              <a:t>                  Filosofía     Equipo   Áreas de Pràctica</a:t>
            </a:r>
            <a:endParaRPr>
              <a:solidFill>
                <a:schemeClr val="lt1"/>
              </a:solidFill>
              <a:latin typeface="Prompt"/>
              <a:ea typeface="Prompt"/>
              <a:cs typeface="Prompt"/>
              <a:sym typeface="Prompt"/>
            </a:endParaRPr>
          </a:p>
        </p:txBody>
      </p:sp>
      <p:sp>
        <p:nvSpPr>
          <p:cNvPr id="82" name="Google Shape;82;p15"/>
          <p:cNvSpPr txBox="1"/>
          <p:nvPr/>
        </p:nvSpPr>
        <p:spPr>
          <a:xfrm>
            <a:off x="3840325" y="369050"/>
            <a:ext cx="5328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83" name="Google Shape;83;p15" title="Vergara-Labarca-Parodi-10-06-2025_12_26_PM-removebg-preview.png"/>
          <p:cNvPicPr preferRelativeResize="0"/>
          <p:nvPr/>
        </p:nvPicPr>
        <p:blipFill>
          <a:blip r:embed="rId4">
            <a:alphaModFix/>
          </a:blip>
          <a:stretch>
            <a:fillRect/>
          </a:stretch>
        </p:blipFill>
        <p:spPr>
          <a:xfrm>
            <a:off x="1285900" y="685800"/>
            <a:ext cx="5991225" cy="3771900"/>
          </a:xfrm>
          <a:prstGeom prst="rect">
            <a:avLst/>
          </a:prstGeom>
          <a:noFill/>
          <a:ln>
            <a:noFill/>
          </a:ln>
        </p:spPr>
      </p:pic>
      <p:sp>
        <p:nvSpPr>
          <p:cNvPr id="84" name="Google Shape;84;p15"/>
          <p:cNvSpPr txBox="1"/>
          <p:nvPr/>
        </p:nvSpPr>
        <p:spPr>
          <a:xfrm>
            <a:off x="1409913" y="4327575"/>
            <a:ext cx="5743200" cy="71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800">
                <a:solidFill>
                  <a:schemeClr val="lt1"/>
                </a:solidFill>
                <a:latin typeface="Prompt Medium"/>
                <a:ea typeface="Prompt Medium"/>
                <a:cs typeface="Prompt Medium"/>
                <a:sym typeface="Prompt Medium"/>
              </a:rPr>
              <a:t>Excelencia     </a:t>
            </a:r>
            <a:r>
              <a:rPr lang="es" sz="1800">
                <a:solidFill>
                  <a:srgbClr val="FF9900"/>
                </a:solidFill>
                <a:latin typeface="Prompt Medium"/>
                <a:ea typeface="Prompt Medium"/>
                <a:cs typeface="Prompt Medium"/>
                <a:sym typeface="Prompt Medium"/>
              </a:rPr>
              <a:t>/</a:t>
            </a:r>
            <a:r>
              <a:rPr lang="es" sz="1800">
                <a:solidFill>
                  <a:schemeClr val="lt1"/>
                </a:solidFill>
                <a:latin typeface="Prompt Medium"/>
                <a:ea typeface="Prompt Medium"/>
                <a:cs typeface="Prompt Medium"/>
                <a:sym typeface="Prompt Medium"/>
              </a:rPr>
              <a:t>     Visión       </a:t>
            </a:r>
            <a:r>
              <a:rPr lang="es" sz="1800">
                <a:solidFill>
                  <a:srgbClr val="FF9900"/>
                </a:solidFill>
                <a:latin typeface="Prompt Medium"/>
                <a:ea typeface="Prompt Medium"/>
                <a:cs typeface="Prompt Medium"/>
                <a:sym typeface="Prompt Medium"/>
              </a:rPr>
              <a:t>/</a:t>
            </a:r>
            <a:r>
              <a:rPr lang="es" sz="1800">
                <a:solidFill>
                  <a:schemeClr val="lt1"/>
                </a:solidFill>
                <a:latin typeface="Prompt Medium"/>
                <a:ea typeface="Prompt Medium"/>
                <a:cs typeface="Prompt Medium"/>
                <a:sym typeface="Prompt Medium"/>
              </a:rPr>
              <a:t>        Experiencia</a:t>
            </a:r>
            <a:endParaRPr sz="1800">
              <a:solidFill>
                <a:schemeClr val="lt1"/>
              </a:solidFill>
              <a:latin typeface="Prompt Medium"/>
              <a:ea typeface="Prompt Medium"/>
              <a:cs typeface="Prompt Medium"/>
              <a:sym typeface="Prompt Medium"/>
            </a:endParaRPr>
          </a:p>
          <a:p>
            <a:pPr marL="0" lvl="0" indent="0" algn="l" rtl="0">
              <a:spcBef>
                <a:spcPts val="0"/>
              </a:spcBef>
              <a:spcAft>
                <a:spcPts val="0"/>
              </a:spcAft>
              <a:buNone/>
            </a:pPr>
            <a:endParaRPr>
              <a:solidFill>
                <a:schemeClr val="lt1"/>
              </a:solidFill>
              <a:latin typeface="Prompt"/>
              <a:ea typeface="Prompt"/>
              <a:cs typeface="Prompt"/>
              <a:sym typeface="Promp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88"/>
        <p:cNvGrpSpPr/>
        <p:nvPr/>
      </p:nvGrpSpPr>
      <p:grpSpPr>
        <a:xfrm>
          <a:off x="0" y="0"/>
          <a:ext cx="0" cy="0"/>
          <a:chOff x="0" y="0"/>
          <a:chExt cx="0" cy="0"/>
        </a:xfrm>
      </p:grpSpPr>
      <p:sp>
        <p:nvSpPr>
          <p:cNvPr id="89" name="Google Shape;89;p16"/>
          <p:cNvSpPr txBox="1"/>
          <p:nvPr/>
        </p:nvSpPr>
        <p:spPr>
          <a:xfrm>
            <a:off x="0" y="46150"/>
            <a:ext cx="664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b="1">
                <a:solidFill>
                  <a:schemeClr val="lt1"/>
                </a:solidFill>
              </a:rPr>
              <a:t>EQUIPO 2</a:t>
            </a:r>
            <a:endParaRPr sz="1800" b="1">
              <a:solidFill>
                <a:schemeClr val="lt1"/>
              </a:solidFill>
            </a:endParaRPr>
          </a:p>
        </p:txBody>
      </p:sp>
      <p:pic>
        <p:nvPicPr>
          <p:cNvPr id="90" name="Google Shape;90;p16" title="untitled-0-removebg-preview.png"/>
          <p:cNvPicPr preferRelativeResize="0"/>
          <p:nvPr/>
        </p:nvPicPr>
        <p:blipFill>
          <a:blip r:embed="rId3">
            <a:alphaModFix/>
          </a:blip>
          <a:stretch>
            <a:fillRect/>
          </a:stretch>
        </p:blipFill>
        <p:spPr>
          <a:xfrm>
            <a:off x="7081600" y="46150"/>
            <a:ext cx="2062400" cy="553550"/>
          </a:xfrm>
          <a:prstGeom prst="rect">
            <a:avLst/>
          </a:prstGeom>
          <a:noFill/>
          <a:ln>
            <a:noFill/>
          </a:ln>
        </p:spPr>
      </p:pic>
      <p:cxnSp>
        <p:nvCxnSpPr>
          <p:cNvPr id="91" name="Google Shape;91;p16"/>
          <p:cNvCxnSpPr/>
          <p:nvPr/>
        </p:nvCxnSpPr>
        <p:spPr>
          <a:xfrm>
            <a:off x="968725" y="530500"/>
            <a:ext cx="6308400" cy="0"/>
          </a:xfrm>
          <a:prstGeom prst="straightConnector1">
            <a:avLst/>
          </a:prstGeom>
          <a:noFill/>
          <a:ln w="28575" cap="flat" cmpd="sng">
            <a:solidFill>
              <a:srgbClr val="FF9900"/>
            </a:solidFill>
            <a:prstDash val="solid"/>
            <a:round/>
            <a:headEnd type="none" w="med" len="med"/>
            <a:tailEnd type="none" w="med" len="med"/>
          </a:ln>
        </p:spPr>
      </p:cxnSp>
      <p:sp>
        <p:nvSpPr>
          <p:cNvPr id="92" name="Google Shape;92;p16"/>
          <p:cNvSpPr txBox="1"/>
          <p:nvPr/>
        </p:nvSpPr>
        <p:spPr>
          <a:xfrm>
            <a:off x="1187825" y="68800"/>
            <a:ext cx="5743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solidFill>
                  <a:schemeClr val="lt1"/>
                </a:solidFill>
                <a:latin typeface="Prompt"/>
                <a:ea typeface="Prompt"/>
                <a:cs typeface="Prompt"/>
                <a:sym typeface="Prompt"/>
              </a:rPr>
              <a:t>                  Filosofía     Equipo   Áreas de Pràctica</a:t>
            </a:r>
            <a:endParaRPr>
              <a:solidFill>
                <a:schemeClr val="lt1"/>
              </a:solidFill>
              <a:latin typeface="Prompt"/>
              <a:ea typeface="Prompt"/>
              <a:cs typeface="Prompt"/>
              <a:sym typeface="Prompt"/>
            </a:endParaRPr>
          </a:p>
        </p:txBody>
      </p:sp>
      <p:sp>
        <p:nvSpPr>
          <p:cNvPr id="93" name="Google Shape;93;p16"/>
          <p:cNvSpPr txBox="1"/>
          <p:nvPr/>
        </p:nvSpPr>
        <p:spPr>
          <a:xfrm>
            <a:off x="3840325" y="369050"/>
            <a:ext cx="5328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94" name="Google Shape;94;p16"/>
          <p:cNvSpPr txBox="1"/>
          <p:nvPr/>
        </p:nvSpPr>
        <p:spPr>
          <a:xfrm>
            <a:off x="5051250" y="1017750"/>
            <a:ext cx="3021600" cy="405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100">
                <a:solidFill>
                  <a:schemeClr val="lt1"/>
                </a:solidFill>
                <a:latin typeface="Prompt"/>
                <a:ea typeface="Prompt"/>
                <a:cs typeface="Prompt"/>
                <a:sym typeface="Prompt"/>
              </a:rPr>
              <a:t>Jorge is a Partner in the area of ​​civil and commercial litigation and leader in the area of ​​public, administrative and regulatory law of our office in Santiago, Chile.</a:t>
            </a:r>
            <a:endParaRPr sz="1100">
              <a:solidFill>
                <a:schemeClr val="lt1"/>
              </a:solidFill>
              <a:latin typeface="Prompt"/>
              <a:ea typeface="Prompt"/>
              <a:cs typeface="Prompt"/>
              <a:sym typeface="Prompt"/>
            </a:endParaRPr>
          </a:p>
          <a:p>
            <a:pPr marL="0" lvl="0" indent="0" algn="l" rtl="0">
              <a:lnSpc>
                <a:spcPct val="115000"/>
              </a:lnSpc>
              <a:spcBef>
                <a:spcPts val="0"/>
              </a:spcBef>
              <a:spcAft>
                <a:spcPts val="0"/>
              </a:spcAft>
              <a:buNone/>
            </a:pPr>
            <a:endParaRPr sz="1100">
              <a:solidFill>
                <a:schemeClr val="lt1"/>
              </a:solidFill>
              <a:latin typeface="Prompt"/>
              <a:ea typeface="Prompt"/>
              <a:cs typeface="Prompt"/>
              <a:sym typeface="Prompt"/>
            </a:endParaRPr>
          </a:p>
          <a:p>
            <a:pPr marL="0" lvl="0" indent="0" algn="l" rtl="0">
              <a:lnSpc>
                <a:spcPct val="115000"/>
              </a:lnSpc>
              <a:spcBef>
                <a:spcPts val="0"/>
              </a:spcBef>
              <a:spcAft>
                <a:spcPts val="0"/>
              </a:spcAft>
              <a:buNone/>
            </a:pPr>
            <a:r>
              <a:rPr lang="es" sz="1100">
                <a:solidFill>
                  <a:schemeClr val="lt1"/>
                </a:solidFill>
                <a:latin typeface="Prompt"/>
                <a:ea typeface="Prompt"/>
                <a:cs typeface="Prompt"/>
                <a:sym typeface="Prompt"/>
              </a:rPr>
              <a:t>He has acted as a lawyer and principal advisor in multiple complex litigations, leading interdisciplinary teams, coordinating strategies and direct and immediate relationship with clients, including open-stock corporations, individuals and family offices and private companies. His experience in disputes include the representation of insurance and infrastructure, advising several insurance companies and business groups related to the development, construction and administration of real estate projects.</a:t>
            </a:r>
            <a:endParaRPr>
              <a:solidFill>
                <a:schemeClr val="lt1"/>
              </a:solidFill>
              <a:latin typeface="Prompt"/>
              <a:ea typeface="Prompt"/>
              <a:cs typeface="Prompt"/>
              <a:sym typeface="Prompt"/>
            </a:endParaRPr>
          </a:p>
        </p:txBody>
      </p:sp>
      <p:pic>
        <p:nvPicPr>
          <p:cNvPr id="95" name="Google Shape;95;p16"/>
          <p:cNvPicPr preferRelativeResize="0"/>
          <p:nvPr/>
        </p:nvPicPr>
        <p:blipFill>
          <a:blip r:embed="rId4">
            <a:alphaModFix/>
          </a:blip>
          <a:stretch>
            <a:fillRect/>
          </a:stretch>
        </p:blipFill>
        <p:spPr>
          <a:xfrm>
            <a:off x="867425" y="1017750"/>
            <a:ext cx="3272750" cy="3312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Shape 99"/>
        <p:cNvGrpSpPr/>
        <p:nvPr/>
      </p:nvGrpSpPr>
      <p:grpSpPr>
        <a:xfrm>
          <a:off x="0" y="0"/>
          <a:ext cx="0" cy="0"/>
          <a:chOff x="0" y="0"/>
          <a:chExt cx="0" cy="0"/>
        </a:xfrm>
      </p:grpSpPr>
      <p:sp>
        <p:nvSpPr>
          <p:cNvPr id="100" name="Google Shape;100;p17"/>
          <p:cNvSpPr txBox="1"/>
          <p:nvPr/>
        </p:nvSpPr>
        <p:spPr>
          <a:xfrm>
            <a:off x="0" y="46150"/>
            <a:ext cx="664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b="1">
                <a:solidFill>
                  <a:schemeClr val="lt1"/>
                </a:solidFill>
              </a:rPr>
              <a:t>PRÁCTICA</a:t>
            </a:r>
            <a:endParaRPr sz="1800" b="1">
              <a:solidFill>
                <a:schemeClr val="lt1"/>
              </a:solidFill>
            </a:endParaRPr>
          </a:p>
        </p:txBody>
      </p:sp>
      <p:pic>
        <p:nvPicPr>
          <p:cNvPr id="101" name="Google Shape;101;p17" title="untitled-0-removebg-preview.png"/>
          <p:cNvPicPr preferRelativeResize="0"/>
          <p:nvPr/>
        </p:nvPicPr>
        <p:blipFill>
          <a:blip r:embed="rId3">
            <a:alphaModFix/>
          </a:blip>
          <a:stretch>
            <a:fillRect/>
          </a:stretch>
        </p:blipFill>
        <p:spPr>
          <a:xfrm>
            <a:off x="7081600" y="46150"/>
            <a:ext cx="2062400" cy="553550"/>
          </a:xfrm>
          <a:prstGeom prst="rect">
            <a:avLst/>
          </a:prstGeom>
          <a:noFill/>
          <a:ln>
            <a:noFill/>
          </a:ln>
        </p:spPr>
      </p:pic>
      <p:cxnSp>
        <p:nvCxnSpPr>
          <p:cNvPr id="102" name="Google Shape;102;p17"/>
          <p:cNvCxnSpPr/>
          <p:nvPr/>
        </p:nvCxnSpPr>
        <p:spPr>
          <a:xfrm>
            <a:off x="968725" y="530500"/>
            <a:ext cx="6308400" cy="0"/>
          </a:xfrm>
          <a:prstGeom prst="straightConnector1">
            <a:avLst/>
          </a:prstGeom>
          <a:noFill/>
          <a:ln w="28575" cap="flat" cmpd="sng">
            <a:solidFill>
              <a:srgbClr val="FF9900"/>
            </a:solidFill>
            <a:prstDash val="solid"/>
            <a:round/>
            <a:headEnd type="none" w="med" len="med"/>
            <a:tailEnd type="none" w="med" len="med"/>
          </a:ln>
        </p:spPr>
      </p:cxnSp>
      <p:sp>
        <p:nvSpPr>
          <p:cNvPr id="103" name="Google Shape;103;p17"/>
          <p:cNvSpPr txBox="1"/>
          <p:nvPr/>
        </p:nvSpPr>
        <p:spPr>
          <a:xfrm>
            <a:off x="1187825" y="68800"/>
            <a:ext cx="5743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solidFill>
                  <a:schemeClr val="lt1"/>
                </a:solidFill>
                <a:latin typeface="Prompt"/>
                <a:ea typeface="Prompt"/>
                <a:cs typeface="Prompt"/>
                <a:sym typeface="Prompt"/>
              </a:rPr>
              <a:t>                  Filosofía     Equipo   Áreas de Pràctica</a:t>
            </a:r>
            <a:endParaRPr>
              <a:solidFill>
                <a:schemeClr val="lt1"/>
              </a:solidFill>
              <a:latin typeface="Prompt"/>
              <a:ea typeface="Prompt"/>
              <a:cs typeface="Prompt"/>
              <a:sym typeface="Prompt"/>
            </a:endParaRPr>
          </a:p>
        </p:txBody>
      </p:sp>
      <p:sp>
        <p:nvSpPr>
          <p:cNvPr id="104" name="Google Shape;104;p17"/>
          <p:cNvSpPr txBox="1"/>
          <p:nvPr/>
        </p:nvSpPr>
        <p:spPr>
          <a:xfrm>
            <a:off x="3840325" y="369050"/>
            <a:ext cx="5328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05" name="Google Shape;105;p17"/>
          <p:cNvPicPr preferRelativeResize="0"/>
          <p:nvPr/>
        </p:nvPicPr>
        <p:blipFill>
          <a:blip r:embed="rId4">
            <a:alphaModFix/>
          </a:blip>
          <a:stretch>
            <a:fillRect/>
          </a:stretch>
        </p:blipFill>
        <p:spPr>
          <a:xfrm>
            <a:off x="1109625" y="948550"/>
            <a:ext cx="6870876" cy="1623200"/>
          </a:xfrm>
          <a:prstGeom prst="rect">
            <a:avLst/>
          </a:prstGeom>
          <a:noFill/>
          <a:ln>
            <a:noFill/>
          </a:ln>
        </p:spPr>
      </p:pic>
      <p:sp>
        <p:nvSpPr>
          <p:cNvPr id="106" name="Google Shape;106;p17"/>
          <p:cNvSpPr txBox="1"/>
          <p:nvPr/>
        </p:nvSpPr>
        <p:spPr>
          <a:xfrm>
            <a:off x="1109625" y="2629425"/>
            <a:ext cx="3021600" cy="298771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100" b="1" dirty="0">
                <a:solidFill>
                  <a:schemeClr val="lt1"/>
                </a:solidFill>
                <a:latin typeface="Prompt"/>
                <a:ea typeface="Prompt"/>
                <a:cs typeface="Prompt"/>
                <a:sym typeface="Prompt"/>
              </a:rPr>
              <a:t>Litigación de Alta Complejidad</a:t>
            </a:r>
            <a:endParaRPr sz="1100" b="1" dirty="0">
              <a:solidFill>
                <a:schemeClr val="lt1"/>
              </a:solidFill>
              <a:latin typeface="Prompt"/>
              <a:ea typeface="Prompt"/>
              <a:cs typeface="Prompt"/>
              <a:sym typeface="Prompt"/>
            </a:endParaRPr>
          </a:p>
          <a:p>
            <a:pPr marL="0" lvl="0" indent="0" algn="l" rtl="0">
              <a:lnSpc>
                <a:spcPct val="115000"/>
              </a:lnSpc>
              <a:spcBef>
                <a:spcPts val="1200"/>
              </a:spcBef>
              <a:spcAft>
                <a:spcPts val="1200"/>
              </a:spcAft>
              <a:buNone/>
            </a:pPr>
            <a:r>
              <a:rPr lang="es" sz="1000" dirty="0">
                <a:solidFill>
                  <a:schemeClr val="lt1"/>
                </a:solidFill>
                <a:latin typeface="Prompt Light"/>
                <a:ea typeface="Prompt Light"/>
                <a:cs typeface="Prompt Light"/>
                <a:sym typeface="Prompt Light"/>
              </a:rPr>
              <a:t>El núcleo de la experiencia de la firma. Representación en arbitrajes y juicios en ámbitos civiles, comerciales y penales, incluyendo conflictos entre accionistas, sobre disolución y liquidación de sociedades, patrimonios familiares, conflictos testamentarios, seguros y reaseguros, contratación pública, entre otras materias. Esta práctica se complementa con una acreditada experiencia en procesos contencioso-administrativos ante la CMF, Superintendencias, Seremis, ISP, entre otros organismos fiscalizadores. </a:t>
            </a:r>
            <a:endParaRPr sz="1000" dirty="0">
              <a:solidFill>
                <a:schemeClr val="lt1"/>
              </a:solidFill>
              <a:latin typeface="Prompt Light"/>
              <a:ea typeface="Prompt Light"/>
              <a:cs typeface="Prompt Light"/>
              <a:sym typeface="Prompt Light"/>
            </a:endParaRPr>
          </a:p>
        </p:txBody>
      </p:sp>
      <p:sp>
        <p:nvSpPr>
          <p:cNvPr id="107" name="Google Shape;107;p17"/>
          <p:cNvSpPr txBox="1"/>
          <p:nvPr/>
        </p:nvSpPr>
        <p:spPr>
          <a:xfrm>
            <a:off x="5056250" y="2629425"/>
            <a:ext cx="3021600" cy="239831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100" b="1" dirty="0">
                <a:solidFill>
                  <a:schemeClr val="lt1"/>
                </a:solidFill>
                <a:latin typeface="Prompt"/>
                <a:ea typeface="Prompt"/>
                <a:cs typeface="Prompt"/>
                <a:sym typeface="Prompt"/>
              </a:rPr>
              <a:t>Asesoría Estratégica y Acompañamiento de Negocios</a:t>
            </a:r>
            <a:endParaRPr sz="1100" b="1" dirty="0">
              <a:solidFill>
                <a:schemeClr val="lt1"/>
              </a:solidFill>
              <a:latin typeface="Prompt"/>
              <a:ea typeface="Prompt"/>
              <a:cs typeface="Prompt"/>
              <a:sym typeface="Prompt"/>
            </a:endParaRPr>
          </a:p>
          <a:p>
            <a:pPr marL="0" lvl="0" indent="0" algn="l" rtl="0">
              <a:lnSpc>
                <a:spcPct val="115000"/>
              </a:lnSpc>
              <a:spcBef>
                <a:spcPts val="1200"/>
              </a:spcBef>
              <a:spcAft>
                <a:spcPts val="0"/>
              </a:spcAft>
              <a:buNone/>
            </a:pPr>
            <a:r>
              <a:rPr lang="es" sz="1100" dirty="0">
                <a:solidFill>
                  <a:schemeClr val="lt1"/>
                </a:solidFill>
                <a:latin typeface="Prompt Light"/>
                <a:ea typeface="Prompt Light"/>
                <a:cs typeface="Prompt Light"/>
                <a:sym typeface="Prompt Light"/>
              </a:rPr>
              <a:t>Diseño y liderazgo de equipos multidisciplinarios para abordar los desafíos del cliente en materia de requerimientos de servicios legales. Acompañamiento y asesoría estratégica en la toma de decisiones críticas.</a:t>
            </a:r>
            <a:endParaRPr sz="1100" dirty="0">
              <a:solidFill>
                <a:schemeClr val="lt1"/>
              </a:solidFill>
              <a:latin typeface="Prompt Light"/>
              <a:ea typeface="Prompt Light"/>
              <a:cs typeface="Prompt Light"/>
              <a:sym typeface="Prompt Light"/>
            </a:endParaRPr>
          </a:p>
          <a:p>
            <a:pPr marL="0" lvl="0" indent="0" algn="l" rtl="0">
              <a:lnSpc>
                <a:spcPct val="115000"/>
              </a:lnSpc>
              <a:spcBef>
                <a:spcPts val="1200"/>
              </a:spcBef>
              <a:spcAft>
                <a:spcPts val="1200"/>
              </a:spcAft>
              <a:buNone/>
            </a:pPr>
            <a:endParaRPr sz="1100" b="1" dirty="0">
              <a:solidFill>
                <a:schemeClr val="lt1"/>
              </a:solidFill>
              <a:latin typeface="Prompt"/>
              <a:ea typeface="Prompt"/>
              <a:cs typeface="Prompt"/>
              <a:sym typeface="Promp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364</Words>
  <Application>Microsoft Office PowerPoint</Application>
  <PresentationFormat>Presentación en pantalla (16:9)</PresentationFormat>
  <Paragraphs>22</Paragraphs>
  <Slides>4</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Prompt Light</vt:lpstr>
      <vt:lpstr>Arial</vt:lpstr>
      <vt:lpstr>Prompt</vt:lpstr>
      <vt:lpstr>Prompt Medium</vt:lpstr>
      <vt:lpstr>Simple Light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Meneses</dc:creator>
  <cp:lastModifiedBy>Jorge Meneses</cp:lastModifiedBy>
  <cp:revision>1</cp:revision>
  <dcterms:modified xsi:type="dcterms:W3CDTF">2026-01-02T05:08:39Z</dcterms:modified>
</cp:coreProperties>
</file>